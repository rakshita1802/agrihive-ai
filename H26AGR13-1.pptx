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odec Pro Bold" panose="020B0604020202020204" charset="0"/>
      <p:regular r:id="rId11"/>
    </p:embeddedFont>
    <p:embeddedFont>
      <p:font typeface="Garet" panose="020B0604020202020204" charset="0"/>
      <p:regular r:id="rId12"/>
    </p:embeddedFont>
    <p:embeddedFont>
      <p:font typeface="Garet Bold" panose="020B0604020202020204" charset="0"/>
      <p:regular r:id="rId13"/>
    </p:embeddedFont>
    <p:embeddedFont>
      <p:font typeface="League Spartan" panose="020B0604020202020204" charset="0"/>
      <p:regular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43928" y="-697020"/>
            <a:ext cx="21215842" cy="11964886"/>
          </a:xfrm>
          <a:custGeom>
            <a:avLst/>
            <a:gdLst/>
            <a:ahLst/>
            <a:cxnLst/>
            <a:rect l="l" t="t" r="r" b="b"/>
            <a:pathLst>
              <a:path w="21215842" h="11964886">
                <a:moveTo>
                  <a:pt x="0" y="0"/>
                </a:moveTo>
                <a:lnTo>
                  <a:pt x="21215842" y="0"/>
                </a:lnTo>
                <a:lnTo>
                  <a:pt x="21215842" y="11964886"/>
                </a:lnTo>
                <a:lnTo>
                  <a:pt x="0" y="11964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313004" y="2576251"/>
            <a:ext cx="884285" cy="815001"/>
          </a:xfrm>
          <a:custGeom>
            <a:avLst/>
            <a:gdLst/>
            <a:ahLst/>
            <a:cxnLst/>
            <a:rect l="l" t="t" r="r" b="b"/>
            <a:pathLst>
              <a:path w="884285" h="815001">
                <a:moveTo>
                  <a:pt x="0" y="0"/>
                </a:moveTo>
                <a:lnTo>
                  <a:pt x="884286" y="0"/>
                </a:lnTo>
                <a:lnTo>
                  <a:pt x="884286" y="815001"/>
                </a:lnTo>
                <a:lnTo>
                  <a:pt x="0" y="815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629400" y="675976"/>
            <a:ext cx="4419600" cy="815002"/>
            <a:chOff x="0" y="0"/>
            <a:chExt cx="1787422" cy="4806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7422" cy="480665"/>
            </a:xfrm>
            <a:custGeom>
              <a:avLst/>
              <a:gdLst/>
              <a:ahLst/>
              <a:cxnLst/>
              <a:rect l="l" t="t" r="r" b="b"/>
              <a:pathLst>
                <a:path w="1787422" h="480665">
                  <a:moveTo>
                    <a:pt x="1584222" y="0"/>
                  </a:moveTo>
                  <a:cubicBezTo>
                    <a:pt x="1696447" y="0"/>
                    <a:pt x="1787422" y="107601"/>
                    <a:pt x="1787422" y="240333"/>
                  </a:cubicBezTo>
                  <a:cubicBezTo>
                    <a:pt x="1787422" y="373065"/>
                    <a:pt x="1696447" y="480665"/>
                    <a:pt x="1584222" y="480665"/>
                  </a:cubicBezTo>
                  <a:lnTo>
                    <a:pt x="203200" y="480665"/>
                  </a:lnTo>
                  <a:cubicBezTo>
                    <a:pt x="90976" y="480665"/>
                    <a:pt x="0" y="373065"/>
                    <a:pt x="0" y="240333"/>
                  </a:cubicBezTo>
                  <a:cubicBezTo>
                    <a:pt x="0" y="107601"/>
                    <a:pt x="90976" y="0"/>
                    <a:pt x="2032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87422" cy="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49116" y="3386905"/>
            <a:ext cx="13043057" cy="140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08"/>
              </a:lnSpc>
              <a:spcBef>
                <a:spcPct val="0"/>
              </a:spcBef>
            </a:pPr>
            <a:r>
              <a:rPr lang="en-US" sz="814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AGRI-HIVE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48200" y="4835307"/>
            <a:ext cx="9280606" cy="79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6"/>
              </a:lnSpc>
              <a:spcBef>
                <a:spcPct val="0"/>
              </a:spcBef>
            </a:pPr>
            <a:r>
              <a:rPr lang="en-US" sz="1462" b="1" spc="1169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PRIVACY-PRESERVING COLLABORATIVE INTELLIGENCE FOR PROACTIVE AGRICULTURE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66593" y="6006826"/>
            <a:ext cx="8661391" cy="390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ID: : H26AGR13  </a:t>
            </a: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Lead: SWETHA.S</a:t>
            </a: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Members: </a:t>
            </a: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PUJA R, RAKSHITA N</a:t>
            </a: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Coimbatore Institute Of Technology</a:t>
            </a: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endParaRPr lang="en-US" sz="3199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endParaRPr lang="en-US" sz="3199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2000" y="949803"/>
            <a:ext cx="164770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035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NIT Hackathon </a:t>
            </a:r>
          </a:p>
          <a:p>
            <a:pPr marL="0" lvl="0" indent="0" algn="ctr">
              <a:lnSpc>
                <a:spcPts val="2035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4011" y="2649981"/>
            <a:ext cx="4961174" cy="7130274"/>
            <a:chOff x="0" y="0"/>
            <a:chExt cx="1306647" cy="18779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6647" cy="1877932"/>
            </a:xfrm>
            <a:custGeom>
              <a:avLst/>
              <a:gdLst/>
              <a:ahLst/>
              <a:cxnLst/>
              <a:rect l="l" t="t" r="r" b="b"/>
              <a:pathLst>
                <a:path w="1306647" h="1877932">
                  <a:moveTo>
                    <a:pt x="42134" y="0"/>
                  </a:moveTo>
                  <a:lnTo>
                    <a:pt x="1264513" y="0"/>
                  </a:lnTo>
                  <a:cubicBezTo>
                    <a:pt x="1275688" y="0"/>
                    <a:pt x="1286405" y="4439"/>
                    <a:pt x="1294306" y="12341"/>
                  </a:cubicBezTo>
                  <a:cubicBezTo>
                    <a:pt x="1302208" y="20242"/>
                    <a:pt x="1306647" y="30959"/>
                    <a:pt x="1306647" y="42134"/>
                  </a:cubicBezTo>
                  <a:lnTo>
                    <a:pt x="1306647" y="1835799"/>
                  </a:lnTo>
                  <a:cubicBezTo>
                    <a:pt x="1306647" y="1846973"/>
                    <a:pt x="1302208" y="1857690"/>
                    <a:pt x="1294306" y="1865592"/>
                  </a:cubicBezTo>
                  <a:cubicBezTo>
                    <a:pt x="1286405" y="1873493"/>
                    <a:pt x="1275688" y="1877932"/>
                    <a:pt x="1264513" y="1877932"/>
                  </a:cubicBezTo>
                  <a:lnTo>
                    <a:pt x="42134" y="1877932"/>
                  </a:lnTo>
                  <a:cubicBezTo>
                    <a:pt x="30959" y="1877932"/>
                    <a:pt x="20242" y="1873493"/>
                    <a:pt x="12341" y="1865592"/>
                  </a:cubicBezTo>
                  <a:cubicBezTo>
                    <a:pt x="4439" y="1857690"/>
                    <a:pt x="0" y="1846973"/>
                    <a:pt x="0" y="1835799"/>
                  </a:cubicBezTo>
                  <a:lnTo>
                    <a:pt x="0" y="42134"/>
                  </a:lnTo>
                  <a:cubicBezTo>
                    <a:pt x="0" y="30959"/>
                    <a:pt x="4439" y="20242"/>
                    <a:pt x="12341" y="12341"/>
                  </a:cubicBezTo>
                  <a:cubicBezTo>
                    <a:pt x="20242" y="4439"/>
                    <a:pt x="30959" y="0"/>
                    <a:pt x="42134" y="0"/>
                  </a:cubicBezTo>
                  <a:close/>
                </a:path>
              </a:pathLst>
            </a:custGeom>
            <a:solidFill>
              <a:srgbClr val="48730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06647" cy="1916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53031" y="2649981"/>
            <a:ext cx="4961174" cy="7130274"/>
            <a:chOff x="0" y="0"/>
            <a:chExt cx="1306647" cy="1877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6647" cy="1877932"/>
            </a:xfrm>
            <a:custGeom>
              <a:avLst/>
              <a:gdLst/>
              <a:ahLst/>
              <a:cxnLst/>
              <a:rect l="l" t="t" r="r" b="b"/>
              <a:pathLst>
                <a:path w="1306647" h="1877932">
                  <a:moveTo>
                    <a:pt x="42134" y="0"/>
                  </a:moveTo>
                  <a:lnTo>
                    <a:pt x="1264513" y="0"/>
                  </a:lnTo>
                  <a:cubicBezTo>
                    <a:pt x="1275688" y="0"/>
                    <a:pt x="1286405" y="4439"/>
                    <a:pt x="1294306" y="12341"/>
                  </a:cubicBezTo>
                  <a:cubicBezTo>
                    <a:pt x="1302208" y="20242"/>
                    <a:pt x="1306647" y="30959"/>
                    <a:pt x="1306647" y="42134"/>
                  </a:cubicBezTo>
                  <a:lnTo>
                    <a:pt x="1306647" y="1835799"/>
                  </a:lnTo>
                  <a:cubicBezTo>
                    <a:pt x="1306647" y="1846973"/>
                    <a:pt x="1302208" y="1857690"/>
                    <a:pt x="1294306" y="1865592"/>
                  </a:cubicBezTo>
                  <a:cubicBezTo>
                    <a:pt x="1286405" y="1873493"/>
                    <a:pt x="1275688" y="1877932"/>
                    <a:pt x="1264513" y="1877932"/>
                  </a:cubicBezTo>
                  <a:lnTo>
                    <a:pt x="42134" y="1877932"/>
                  </a:lnTo>
                  <a:cubicBezTo>
                    <a:pt x="30959" y="1877932"/>
                    <a:pt x="20242" y="1873493"/>
                    <a:pt x="12341" y="1865592"/>
                  </a:cubicBezTo>
                  <a:cubicBezTo>
                    <a:pt x="4439" y="1857690"/>
                    <a:pt x="0" y="1846973"/>
                    <a:pt x="0" y="1835799"/>
                  </a:cubicBezTo>
                  <a:lnTo>
                    <a:pt x="0" y="42134"/>
                  </a:lnTo>
                  <a:cubicBezTo>
                    <a:pt x="0" y="30959"/>
                    <a:pt x="4439" y="20242"/>
                    <a:pt x="12341" y="12341"/>
                  </a:cubicBezTo>
                  <a:cubicBezTo>
                    <a:pt x="20242" y="4439"/>
                    <a:pt x="30959" y="0"/>
                    <a:pt x="42134" y="0"/>
                  </a:cubicBezTo>
                  <a:close/>
                </a:path>
              </a:pathLst>
            </a:custGeom>
            <a:solidFill>
              <a:srgbClr val="133D31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06647" cy="1916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98126" y="2649981"/>
            <a:ext cx="4961174" cy="7130274"/>
            <a:chOff x="0" y="0"/>
            <a:chExt cx="1306647" cy="18779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6647" cy="1877932"/>
            </a:xfrm>
            <a:custGeom>
              <a:avLst/>
              <a:gdLst/>
              <a:ahLst/>
              <a:cxnLst/>
              <a:rect l="l" t="t" r="r" b="b"/>
              <a:pathLst>
                <a:path w="1306647" h="1877932">
                  <a:moveTo>
                    <a:pt x="42134" y="0"/>
                  </a:moveTo>
                  <a:lnTo>
                    <a:pt x="1264513" y="0"/>
                  </a:lnTo>
                  <a:cubicBezTo>
                    <a:pt x="1275688" y="0"/>
                    <a:pt x="1286405" y="4439"/>
                    <a:pt x="1294306" y="12341"/>
                  </a:cubicBezTo>
                  <a:cubicBezTo>
                    <a:pt x="1302208" y="20242"/>
                    <a:pt x="1306647" y="30959"/>
                    <a:pt x="1306647" y="42134"/>
                  </a:cubicBezTo>
                  <a:lnTo>
                    <a:pt x="1306647" y="1835799"/>
                  </a:lnTo>
                  <a:cubicBezTo>
                    <a:pt x="1306647" y="1846973"/>
                    <a:pt x="1302208" y="1857690"/>
                    <a:pt x="1294306" y="1865592"/>
                  </a:cubicBezTo>
                  <a:cubicBezTo>
                    <a:pt x="1286405" y="1873493"/>
                    <a:pt x="1275688" y="1877932"/>
                    <a:pt x="1264513" y="1877932"/>
                  </a:cubicBezTo>
                  <a:lnTo>
                    <a:pt x="42134" y="1877932"/>
                  </a:lnTo>
                  <a:cubicBezTo>
                    <a:pt x="30959" y="1877932"/>
                    <a:pt x="20242" y="1873493"/>
                    <a:pt x="12341" y="1865592"/>
                  </a:cubicBezTo>
                  <a:cubicBezTo>
                    <a:pt x="4439" y="1857690"/>
                    <a:pt x="0" y="1846973"/>
                    <a:pt x="0" y="1835799"/>
                  </a:cubicBezTo>
                  <a:lnTo>
                    <a:pt x="0" y="42134"/>
                  </a:lnTo>
                  <a:cubicBezTo>
                    <a:pt x="0" y="30959"/>
                    <a:pt x="4439" y="20242"/>
                    <a:pt x="12341" y="12341"/>
                  </a:cubicBezTo>
                  <a:cubicBezTo>
                    <a:pt x="20242" y="4439"/>
                    <a:pt x="30959" y="0"/>
                    <a:pt x="42134" y="0"/>
                  </a:cubicBezTo>
                  <a:close/>
                </a:path>
              </a:pathLst>
            </a:custGeom>
            <a:solidFill>
              <a:srgbClr val="48730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06647" cy="1916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6772" y="828545"/>
            <a:ext cx="2637803" cy="841224"/>
            <a:chOff x="0" y="0"/>
            <a:chExt cx="1274337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4337" cy="406400"/>
            </a:xfrm>
            <a:custGeom>
              <a:avLst/>
              <a:gdLst/>
              <a:ahLst/>
              <a:cxnLst/>
              <a:rect l="l" t="t" r="r" b="b"/>
              <a:pathLst>
                <a:path w="1274337" h="406400">
                  <a:moveTo>
                    <a:pt x="1071137" y="0"/>
                  </a:moveTo>
                  <a:cubicBezTo>
                    <a:pt x="1183361" y="0"/>
                    <a:pt x="1274337" y="90976"/>
                    <a:pt x="1274337" y="203200"/>
                  </a:cubicBezTo>
                  <a:cubicBezTo>
                    <a:pt x="1274337" y="315424"/>
                    <a:pt x="1183361" y="406400"/>
                    <a:pt x="107113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87307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7433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38244" y="922869"/>
            <a:ext cx="307387" cy="589070"/>
          </a:xfrm>
          <a:custGeom>
            <a:avLst/>
            <a:gdLst/>
            <a:ahLst/>
            <a:cxnLst/>
            <a:rect l="l" t="t" r="r" b="b"/>
            <a:pathLst>
              <a:path w="307387" h="589070">
                <a:moveTo>
                  <a:pt x="0" y="0"/>
                </a:moveTo>
                <a:lnTo>
                  <a:pt x="307388" y="0"/>
                </a:lnTo>
                <a:lnTo>
                  <a:pt x="307388" y="589070"/>
                </a:lnTo>
                <a:lnTo>
                  <a:pt x="0" y="589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088794" y="982457"/>
            <a:ext cx="1343668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3"/>
              </a:lnSpc>
            </a:pPr>
            <a:r>
              <a:rPr lang="en-US" sz="1661" b="1">
                <a:solidFill>
                  <a:srgbClr val="F7F7F0"/>
                </a:solidFill>
                <a:latin typeface="Garet Bold"/>
                <a:ea typeface="Garet Bold"/>
                <a:cs typeface="Garet Bold"/>
                <a:sym typeface="Garet Bold"/>
              </a:rPr>
              <a:t>AgriHive</a:t>
            </a:r>
            <a:r>
              <a:rPr lang="en-US" sz="1661" b="1" dirty="0">
                <a:solidFill>
                  <a:srgbClr val="F7F7F0"/>
                </a:solidFill>
                <a:latin typeface="Garet Bold"/>
                <a:ea typeface="Garet Bold"/>
                <a:cs typeface="Garet Bold"/>
                <a:sym typeface="Garet Bold"/>
              </a:rPr>
              <a:t>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9030" y="645099"/>
            <a:ext cx="6123338" cy="194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20"/>
              </a:lnSpc>
            </a:pPr>
            <a:r>
              <a:rPr lang="en-US" sz="7978" b="1">
                <a:solidFill>
                  <a:srgbClr val="FFFAF5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75392" y="913910"/>
            <a:ext cx="767816" cy="60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04"/>
              </a:lnSpc>
              <a:spcBef>
                <a:spcPct val="0"/>
              </a:spcBef>
            </a:pPr>
            <a:r>
              <a:rPr lang="en-US" sz="3574" b="1">
                <a:solidFill>
                  <a:srgbClr val="FFFCF3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30575" y="3517772"/>
            <a:ext cx="4388046" cy="45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7"/>
              </a:lnSpc>
            </a:pPr>
            <a:r>
              <a:rPr lang="en-US" sz="3621" b="1">
                <a:solidFill>
                  <a:srgbClr val="FFFAF5"/>
                </a:solidFill>
                <a:latin typeface="Garet Bold"/>
                <a:ea typeface="Garet Bold"/>
                <a:cs typeface="Garet Bold"/>
                <a:sym typeface="Garet Bold"/>
              </a:rPr>
              <a:t> Isolated Farm AI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21093" y="3234875"/>
            <a:ext cx="3774560" cy="87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7"/>
              </a:lnSpc>
            </a:pPr>
            <a:r>
              <a:rPr lang="en-US" sz="3621" b="1">
                <a:solidFill>
                  <a:srgbClr val="FFFAF5"/>
                </a:solidFill>
                <a:latin typeface="Garet Bold"/>
                <a:ea typeface="Garet Bold"/>
                <a:cs typeface="Garet Bold"/>
                <a:sym typeface="Garet Bold"/>
              </a:rPr>
              <a:t> No Regional Risk Detection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56247" y="4710447"/>
            <a:ext cx="4436656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Current AI systems analyze each farm independently, making it difficult to detect regional agricultural risks.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Objective: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Enable secure collaboration among farms to provide proactive and privacy-preserving recommendations.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47968" y="4710447"/>
            <a:ext cx="4720810" cy="344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/>
              <a:t>Problem:</a:t>
            </a:r>
            <a:br>
              <a:rPr lang="en-US" sz="2800" dirty="0"/>
            </a:br>
            <a:r>
              <a:rPr lang="en-US" sz="2800" dirty="0"/>
              <a:t>Regional agricultural threats often go undetected due to the lack of large-scale monitoring.</a:t>
            </a:r>
          </a:p>
          <a:p>
            <a:r>
              <a:rPr lang="en-US" sz="2800" b="1" dirty="0"/>
              <a:t>Objective:</a:t>
            </a:r>
            <a:br>
              <a:rPr lang="en-US" sz="2800" dirty="0"/>
            </a:br>
            <a:r>
              <a:rPr lang="en-US" sz="2800" dirty="0"/>
              <a:t>Provide proactive detection and early alerts for regional agricultural risks.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21995" y="3444425"/>
            <a:ext cx="4058608" cy="45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7"/>
              </a:lnSpc>
            </a:pPr>
            <a:r>
              <a:rPr lang="en-US" sz="3621" b="1">
                <a:solidFill>
                  <a:srgbClr val="FFFAF5"/>
                </a:solidFill>
                <a:latin typeface="Garet Bold"/>
                <a:ea typeface="Garet Bold"/>
                <a:cs typeface="Garet Bold"/>
                <a:sym typeface="Garet Bold"/>
              </a:rPr>
              <a:t> Privacy Barriers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09570" y="4568395"/>
            <a:ext cx="4338286" cy="483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50">
                <a:solidFill>
                  <a:srgbClr val="FFFAF5"/>
                </a:solidFill>
                <a:latin typeface="Garet"/>
                <a:ea typeface="Garet"/>
                <a:cs typeface="Garet"/>
                <a:sym typeface="Garet"/>
              </a:rPr>
              <a:t>Farmers cannot share raw data due to privacy concerns.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50">
                <a:solidFill>
                  <a:srgbClr val="FFFAF5"/>
                </a:solidFill>
                <a:latin typeface="Garet"/>
                <a:ea typeface="Garet"/>
                <a:cs typeface="Garet"/>
                <a:sym typeface="Garet"/>
              </a:rPr>
              <a:t>Centralized AI models require sensitive farm data exposure.</a:t>
            </a:r>
          </a:p>
          <a:p>
            <a:pPr marL="0" lvl="0" indent="0" algn="ctr">
              <a:lnSpc>
                <a:spcPts val="2970"/>
              </a:lnSpc>
            </a:pPr>
            <a:endParaRPr lang="en-US" sz="2750">
              <a:solidFill>
                <a:srgbClr val="FFFAF5"/>
              </a:solidFill>
              <a:latin typeface="Garet"/>
              <a:ea typeface="Garet"/>
              <a:cs typeface="Garet"/>
              <a:sym typeface="Garet"/>
            </a:endParaRPr>
          </a:p>
          <a:p>
            <a:pPr marL="0" lvl="0" indent="0" algn="ctr">
              <a:lnSpc>
                <a:spcPts val="2970"/>
              </a:lnSpc>
            </a:pPr>
            <a:r>
              <a:rPr lang="en-US" sz="2750">
                <a:solidFill>
                  <a:srgbClr val="FFFAF5"/>
                </a:solidFill>
                <a:latin typeface="Garet"/>
                <a:ea typeface="Garet"/>
                <a:cs typeface="Garet"/>
                <a:sym typeface="Garet"/>
              </a:rPr>
              <a:t> Objectives: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50">
                <a:solidFill>
                  <a:srgbClr val="FFFAF5"/>
                </a:solidFill>
                <a:latin typeface="Garet"/>
                <a:ea typeface="Garet"/>
                <a:cs typeface="Garet"/>
                <a:sym typeface="Garet"/>
              </a:rPr>
              <a:t>Preserve data privacy via federated learning.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50">
                <a:solidFill>
                  <a:srgbClr val="FFFAF5"/>
                </a:solidFill>
                <a:latin typeface="Garet"/>
                <a:ea typeface="Garet"/>
                <a:cs typeface="Garet"/>
                <a:sym typeface="Garet"/>
              </a:rPr>
              <a:t> Deliver proactive 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50">
                <a:solidFill>
                  <a:srgbClr val="FFFAF5"/>
                </a:solidFill>
                <a:latin typeface="Garet"/>
                <a:ea typeface="Garet"/>
                <a:cs typeface="Garet"/>
                <a:sym typeface="Garet"/>
              </a:rPr>
              <a:t>AI-driven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62400" y="1511939"/>
            <a:ext cx="8461673" cy="10597860"/>
            <a:chOff x="0" y="0"/>
            <a:chExt cx="749799" cy="9390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9799" cy="939089"/>
            </a:xfrm>
            <a:custGeom>
              <a:avLst/>
              <a:gdLst/>
              <a:ahLst/>
              <a:cxnLst/>
              <a:rect l="l" t="t" r="r" b="b"/>
              <a:pathLst>
                <a:path w="749799" h="939089">
                  <a:moveTo>
                    <a:pt x="0" y="0"/>
                  </a:moveTo>
                  <a:lnTo>
                    <a:pt x="749799" y="0"/>
                  </a:lnTo>
                  <a:lnTo>
                    <a:pt x="749799" y="939089"/>
                  </a:lnTo>
                  <a:lnTo>
                    <a:pt x="0" y="939089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5049501" y="828545"/>
            <a:ext cx="2637803" cy="841224"/>
            <a:chOff x="0" y="0"/>
            <a:chExt cx="1274337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4337" cy="406400"/>
            </a:xfrm>
            <a:custGeom>
              <a:avLst/>
              <a:gdLst/>
              <a:ahLst/>
              <a:cxnLst/>
              <a:rect l="l" t="t" r="r" b="b"/>
              <a:pathLst>
                <a:path w="1274337" h="406400">
                  <a:moveTo>
                    <a:pt x="1071137" y="0"/>
                  </a:moveTo>
                  <a:cubicBezTo>
                    <a:pt x="1183361" y="0"/>
                    <a:pt x="1274337" y="90976"/>
                    <a:pt x="1274337" y="203200"/>
                  </a:cubicBezTo>
                  <a:cubicBezTo>
                    <a:pt x="1274337" y="315424"/>
                    <a:pt x="1183361" y="406400"/>
                    <a:pt x="107113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8730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433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550974" y="922869"/>
            <a:ext cx="307387" cy="589070"/>
          </a:xfrm>
          <a:custGeom>
            <a:avLst/>
            <a:gdLst/>
            <a:ahLst/>
            <a:cxnLst/>
            <a:rect l="l" t="t" r="r" b="b"/>
            <a:pathLst>
              <a:path w="307387" h="589070">
                <a:moveTo>
                  <a:pt x="0" y="0"/>
                </a:moveTo>
                <a:lnTo>
                  <a:pt x="307387" y="0"/>
                </a:lnTo>
                <a:lnTo>
                  <a:pt x="307387" y="589070"/>
                </a:lnTo>
                <a:lnTo>
                  <a:pt x="0" y="589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001524" y="982457"/>
            <a:ext cx="1343668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3"/>
              </a:lnSpc>
            </a:pPr>
            <a:r>
              <a:rPr lang="en-US" sz="1661" b="1">
                <a:solidFill>
                  <a:srgbClr val="F7F7F0"/>
                </a:solidFill>
                <a:latin typeface="Garet Bold"/>
                <a:ea typeface="Garet Bold"/>
                <a:cs typeface="Garet Bold"/>
                <a:sym typeface="Garet Bold"/>
              </a:rPr>
              <a:t>AgriHive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85911" y="898341"/>
            <a:ext cx="10021899" cy="1903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37"/>
              </a:lnSpc>
            </a:pPr>
            <a:r>
              <a:rPr lang="en-US" sz="7782" b="1" dirty="0">
                <a:solidFill>
                  <a:srgbClr val="487307"/>
                </a:solidFill>
                <a:latin typeface="Garet Bold"/>
                <a:ea typeface="Garet Bold"/>
                <a:cs typeface="Garet Bold"/>
                <a:sym typeface="Garet Bold"/>
              </a:rPr>
              <a:t>Existing Solutions &amp; Gaps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79795" y="3314700"/>
            <a:ext cx="10197916" cy="591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374" dirty="0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Farm-level AI → No regional intelligence</a:t>
            </a: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endParaRPr lang="en-US" sz="3374" dirty="0">
              <a:solidFill>
                <a:srgbClr val="48730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374" dirty="0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Centralized AI → Privacy concerns</a:t>
            </a: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endParaRPr lang="en-US" sz="3374" dirty="0">
              <a:solidFill>
                <a:srgbClr val="48730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374" dirty="0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Isolated systems → No collaboration</a:t>
            </a: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endParaRPr lang="en-US" sz="3374" dirty="0">
              <a:solidFill>
                <a:srgbClr val="48730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374" dirty="0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Current tools → Reactive recommendations</a:t>
            </a: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endParaRPr lang="en-US" sz="3374" dirty="0">
              <a:solidFill>
                <a:srgbClr val="48730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374" dirty="0" err="1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AgriHive</a:t>
            </a:r>
            <a:r>
              <a:rPr lang="en-US" sz="3374" dirty="0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 AI bridges these gaps using privacy-preserving collaborative intelligence.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2140420" y="-448598"/>
            <a:ext cx="3938179" cy="2220712"/>
            <a:chOff x="0" y="0"/>
            <a:chExt cx="1037216" cy="5848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7216" cy="584879"/>
            </a:xfrm>
            <a:custGeom>
              <a:avLst/>
              <a:gdLst/>
              <a:ahLst/>
              <a:cxnLst/>
              <a:rect l="l" t="t" r="r" b="b"/>
              <a:pathLst>
                <a:path w="1037216" h="584879">
                  <a:moveTo>
                    <a:pt x="0" y="0"/>
                  </a:moveTo>
                  <a:lnTo>
                    <a:pt x="1037216" y="0"/>
                  </a:lnTo>
                  <a:lnTo>
                    <a:pt x="1037216" y="584879"/>
                  </a:lnTo>
                  <a:lnTo>
                    <a:pt x="0" y="584879"/>
                  </a:lnTo>
                  <a:close/>
                </a:path>
              </a:pathLst>
            </a:custGeom>
            <a:solidFill>
              <a:srgbClr val="48730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37216" cy="622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89972" y="913910"/>
            <a:ext cx="767816" cy="60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04"/>
              </a:lnSpc>
              <a:spcBef>
                <a:spcPct val="0"/>
              </a:spcBef>
            </a:pPr>
            <a:r>
              <a:rPr lang="en-US" sz="3574" b="1">
                <a:solidFill>
                  <a:srgbClr val="FFFCF3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0420" y="-448598"/>
            <a:ext cx="3938179" cy="2220712"/>
            <a:chOff x="0" y="0"/>
            <a:chExt cx="1037216" cy="5848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7216" cy="584879"/>
            </a:xfrm>
            <a:custGeom>
              <a:avLst/>
              <a:gdLst/>
              <a:ahLst/>
              <a:cxnLst/>
              <a:rect l="l" t="t" r="r" b="b"/>
              <a:pathLst>
                <a:path w="1037216" h="584879">
                  <a:moveTo>
                    <a:pt x="0" y="0"/>
                  </a:moveTo>
                  <a:lnTo>
                    <a:pt x="1037216" y="0"/>
                  </a:lnTo>
                  <a:lnTo>
                    <a:pt x="1037216" y="584879"/>
                  </a:lnTo>
                  <a:lnTo>
                    <a:pt x="0" y="584879"/>
                  </a:lnTo>
                  <a:close/>
                </a:path>
              </a:pathLst>
            </a:custGeom>
            <a:solidFill>
              <a:srgbClr val="4873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37216" cy="622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896725" y="-142052"/>
            <a:ext cx="9669429" cy="10601434"/>
          </a:xfrm>
          <a:custGeom>
            <a:avLst/>
            <a:gdLst/>
            <a:ahLst/>
            <a:cxnLst/>
            <a:rect l="l" t="t" r="r" b="b"/>
            <a:pathLst>
              <a:path w="9669429" h="10601434">
                <a:moveTo>
                  <a:pt x="0" y="0"/>
                </a:moveTo>
                <a:lnTo>
                  <a:pt x="9669429" y="0"/>
                </a:lnTo>
                <a:lnTo>
                  <a:pt x="9669429" y="10601434"/>
                </a:lnTo>
                <a:lnTo>
                  <a:pt x="0" y="10601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86" b="-178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68385" y="3541153"/>
            <a:ext cx="5866560" cy="258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20"/>
              </a:lnSpc>
            </a:pPr>
            <a:r>
              <a:rPr lang="en-US" sz="10559" b="1">
                <a:solidFill>
                  <a:srgbClr val="70821F"/>
                </a:solidFill>
                <a:latin typeface="Garet Bold"/>
                <a:ea typeface="Garet Bold"/>
                <a:cs typeface="Garet Bold"/>
                <a:sym typeface="Garet Bold"/>
              </a:rPr>
              <a:t>System </a:t>
            </a:r>
          </a:p>
          <a:p>
            <a:pPr marL="0" lvl="0" indent="0" algn="l">
              <a:lnSpc>
                <a:spcPts val="9820"/>
              </a:lnSpc>
            </a:pPr>
            <a:r>
              <a:rPr lang="en-US" sz="10559" b="1">
                <a:solidFill>
                  <a:srgbClr val="70821F"/>
                </a:solidFill>
                <a:latin typeface="Garet Bold"/>
                <a:ea typeface="Garet Bold"/>
                <a:cs typeface="Garet Bold"/>
                <a:sym typeface="Garet Bold"/>
              </a:rPr>
              <a:t>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9972" y="913910"/>
            <a:ext cx="767816" cy="60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04"/>
              </a:lnSpc>
              <a:spcBef>
                <a:spcPct val="0"/>
              </a:spcBef>
            </a:pPr>
            <a:r>
              <a:rPr lang="en-US" sz="3574" b="1">
                <a:solidFill>
                  <a:srgbClr val="FFFCF3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47571" y="-562463"/>
            <a:ext cx="12090661" cy="11411927"/>
            <a:chOff x="0" y="0"/>
            <a:chExt cx="3184372" cy="3005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4372" cy="3005610"/>
            </a:xfrm>
            <a:custGeom>
              <a:avLst/>
              <a:gdLst/>
              <a:ahLst/>
              <a:cxnLst/>
              <a:rect l="l" t="t" r="r" b="b"/>
              <a:pathLst>
                <a:path w="3184372" h="3005610">
                  <a:moveTo>
                    <a:pt x="0" y="0"/>
                  </a:moveTo>
                  <a:lnTo>
                    <a:pt x="3184372" y="0"/>
                  </a:lnTo>
                  <a:lnTo>
                    <a:pt x="3184372" y="3005610"/>
                  </a:lnTo>
                  <a:lnTo>
                    <a:pt x="0" y="3005610"/>
                  </a:lnTo>
                  <a:close/>
                </a:path>
              </a:pathLst>
            </a:custGeom>
            <a:solidFill>
              <a:srgbClr val="133D3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84372" cy="3043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40420" y="-448598"/>
            <a:ext cx="3938179" cy="2220712"/>
            <a:chOff x="0" y="0"/>
            <a:chExt cx="1037216" cy="5848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7216" cy="584879"/>
            </a:xfrm>
            <a:custGeom>
              <a:avLst/>
              <a:gdLst/>
              <a:ahLst/>
              <a:cxnLst/>
              <a:rect l="l" t="t" r="r" b="b"/>
              <a:pathLst>
                <a:path w="1037216" h="584879">
                  <a:moveTo>
                    <a:pt x="0" y="0"/>
                  </a:moveTo>
                  <a:lnTo>
                    <a:pt x="1037216" y="0"/>
                  </a:lnTo>
                  <a:lnTo>
                    <a:pt x="1037216" y="584879"/>
                  </a:lnTo>
                  <a:lnTo>
                    <a:pt x="0" y="584879"/>
                  </a:lnTo>
                  <a:close/>
                </a:path>
              </a:pathLst>
            </a:custGeom>
            <a:solidFill>
              <a:srgbClr val="48730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7216" cy="622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9972" y="913910"/>
            <a:ext cx="767816" cy="60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04"/>
              </a:lnSpc>
              <a:spcBef>
                <a:spcPct val="0"/>
              </a:spcBef>
            </a:pPr>
            <a:r>
              <a:rPr lang="en-US" sz="3574" b="1">
                <a:solidFill>
                  <a:srgbClr val="FFFCF3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9771" y="2683241"/>
            <a:ext cx="6848337" cy="154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9"/>
              </a:lnSpc>
            </a:pPr>
            <a:r>
              <a:rPr lang="en-US" sz="6300" b="1">
                <a:solidFill>
                  <a:srgbClr val="FFFAF5"/>
                </a:solidFill>
                <a:latin typeface="Garet Bold"/>
                <a:ea typeface="Garet Bold"/>
                <a:cs typeface="Garet Bold"/>
                <a:sym typeface="Garet Bold"/>
              </a:rPr>
              <a:t>Implementation</a:t>
            </a:r>
          </a:p>
          <a:p>
            <a:pPr marL="0" lvl="0" indent="0" algn="l">
              <a:lnSpc>
                <a:spcPts val="5859"/>
              </a:lnSpc>
            </a:pPr>
            <a:r>
              <a:rPr lang="en-US" sz="6300" b="1">
                <a:solidFill>
                  <a:srgbClr val="FFFAF5"/>
                </a:solidFill>
                <a:latin typeface="Garet Bold"/>
                <a:ea typeface="Garet Bold"/>
                <a:cs typeface="Garet Bold"/>
                <a:sym typeface="Garet Bold"/>
              </a:rPr>
              <a:t>Progress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892917" y="5162912"/>
            <a:ext cx="3503675" cy="350367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85725" cap="sq">
              <a:solidFill>
                <a:srgbClr val="FFFCF3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8599677" y="1401621"/>
            <a:ext cx="8574621" cy="7264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 b="1">
                <a:solidFill>
                  <a:srgbClr val="487307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Completed</a:t>
            </a: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✓ Problem Analysis</a:t>
            </a: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✓ Technology Stack Finalized</a:t>
            </a: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✓ System Architecture Designed</a:t>
            </a: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✓ Database Planning</a:t>
            </a: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endParaRPr lang="en-US" sz="4101">
              <a:solidFill>
                <a:srgbClr val="48730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 b="1">
                <a:solidFill>
                  <a:srgbClr val="487307"/>
                </a:solidFill>
                <a:latin typeface="Poppins Bold"/>
                <a:ea typeface="Poppins Bold"/>
                <a:cs typeface="Poppins Bold"/>
                <a:sym typeface="Poppins Bold"/>
              </a:rPr>
              <a:t>In Progress</a:t>
            </a: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• Frontend Development</a:t>
            </a: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• Backend Development</a:t>
            </a:r>
          </a:p>
          <a:p>
            <a:pPr marL="0" lvl="0" indent="0" algn="l">
              <a:lnSpc>
                <a:spcPts val="5742"/>
              </a:lnSpc>
              <a:spcBef>
                <a:spcPct val="0"/>
              </a:spcBef>
            </a:pPr>
            <a:r>
              <a:rPr lang="en-US" sz="4101">
                <a:solidFill>
                  <a:srgbClr val="487307"/>
                </a:solidFill>
                <a:latin typeface="Poppins"/>
                <a:ea typeface="Poppins"/>
                <a:cs typeface="Poppins"/>
                <a:sym typeface="Poppins"/>
              </a:rPr>
              <a:t>• Model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220</Words>
  <Application>Microsoft Office PowerPoint</Application>
  <PresentationFormat>Custom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Calibri</vt:lpstr>
      <vt:lpstr>Arial</vt:lpstr>
      <vt:lpstr>League Spartan</vt:lpstr>
      <vt:lpstr>Poppins</vt:lpstr>
      <vt:lpstr>Garet</vt:lpstr>
      <vt:lpstr>Poppins Bold</vt:lpstr>
      <vt:lpstr>Codec Pro Bold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AgriHive AI: Proactive, Private Collaboration</dc:title>
  <cp:lastModifiedBy>Puja Raj</cp:lastModifiedBy>
  <cp:revision>3</cp:revision>
  <dcterms:created xsi:type="dcterms:W3CDTF">2006-08-16T00:00:00Z</dcterms:created>
  <dcterms:modified xsi:type="dcterms:W3CDTF">2026-07-31T10:26:58Z</dcterms:modified>
  <dc:identifier>DAHQ8dkkolQ</dc:identifier>
</cp:coreProperties>
</file>